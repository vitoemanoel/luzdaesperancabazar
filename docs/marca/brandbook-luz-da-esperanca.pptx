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417320"/>
            <a:ext cx="274320" cy="27432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3" name="Shape 1"/>
          <p:cNvSpPr/>
          <p:nvPr/>
        </p:nvSpPr>
        <p:spPr>
          <a:xfrm>
            <a:off x="5547208" y="1417320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Shape 2"/>
          <p:cNvSpPr/>
          <p:nvPr/>
        </p:nvSpPr>
        <p:spPr>
          <a:xfrm>
            <a:off x="5912968" y="141732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5" name="Shape 3"/>
          <p:cNvSpPr/>
          <p:nvPr/>
        </p:nvSpPr>
        <p:spPr>
          <a:xfrm>
            <a:off x="6278728" y="1417320"/>
            <a:ext cx="274320" cy="274320"/>
          </a:xfrm>
          <a:prstGeom prst="ellipse">
            <a:avLst/>
          </a:prstGeom>
          <a:solidFill>
            <a:srgbClr val="3D9BD1"/>
          </a:solidFill>
          <a:ln/>
        </p:spPr>
      </p:sp>
      <p:sp>
        <p:nvSpPr>
          <p:cNvPr id="6" name="Shape 4"/>
          <p:cNvSpPr/>
          <p:nvPr/>
        </p:nvSpPr>
        <p:spPr>
          <a:xfrm>
            <a:off x="6644488" y="1417320"/>
            <a:ext cx="274320" cy="274320"/>
          </a:xfrm>
          <a:prstGeom prst="ellipse">
            <a:avLst/>
          </a:prstGeom>
          <a:solidFill>
            <a:srgbClr val="9B6FC4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AF7F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Luz da Esperança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0" y="36118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B9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Brandbook — Manual de Marca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Centro Espírita e Obras Sociais  ·  Parnaíba, 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5B8C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783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Diagnóstico e Posicionamento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21762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Público-alvo, missão, valores, arquétipo e tom de voz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685800" cy="685800"/>
          </a:xfrm>
          <a:prstGeom prst="ellipse">
            <a:avLst/>
          </a:prstGeom>
          <a:solidFill>
            <a:srgbClr val="5B8C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32004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Identidade Visual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5935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Paleta de cores, tipografia e direção de arte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685800" cy="685800"/>
          </a:xfrm>
          <a:prstGeom prst="ellipse">
            <a:avLst/>
          </a:prstGeom>
          <a:solidFill>
            <a:srgbClr val="5B8C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Comunicação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50109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Elevator pitch e palavras-chave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Brandbook · Luz da Esperança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3E5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7F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Diagnóstico e Posicionamento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9184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DNA da marca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Brandbook · Luz da Esperança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Público-alvo e Nicho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1760220"/>
            <a:ext cx="868680" cy="86868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723" y="196870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Beneficiários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Famílias em vulnerabilidade social em Parnaíba (PI), com prioridade para crianças, adolescentes em risco e idosos.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760220"/>
            <a:ext cx="868680" cy="868680"/>
          </a:xfrm>
          <a:prstGeom prst="ellipse">
            <a:avLst/>
          </a:prstGeom>
          <a:solidFill>
            <a:srgbClr val="3D9B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63" y="196870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Adeptos do Espiritismo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6344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Público que busca tratamento espiritual e formação doutrinária kardecista, já familiarizado com o vocabulário espírita.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18320" y="1760220"/>
            <a:ext cx="868680" cy="8686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803" y="196870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Doadores e Voluntários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1248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Comunidade local sensibilizada pela causa, pronta para doar em gênero, em dinheiro ou com trabalho voluntário.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6D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Nicho: terceiro setor religioso-assistencial — caridade material e tratamento espiritual sob o mesmo teto.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Diagnóstico e Posicionamento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Missão, Visão e Valores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08660" y="1485900"/>
            <a:ext cx="777240" cy="777240"/>
          </a:xfrm>
          <a:prstGeom prst="ellipse">
            <a:avLst/>
          </a:prstGeom>
          <a:solidFill>
            <a:srgbClr val="5B8C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198" y="167243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77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3337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Assistir material, moral e espiritualmente a quem procurar ajuda, praticando a caridade e prestando serviços gratuitos e permanentes à comunidade.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57700" y="1485900"/>
            <a:ext cx="777240" cy="777240"/>
          </a:xfrm>
          <a:prstGeom prst="ellipse">
            <a:avLst/>
          </a:prstGeom>
          <a:solidFill>
            <a:srgbClr val="3D9BD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38" y="167243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2377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Visão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89120" y="2834640"/>
            <a:ext cx="3337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Criar a Escola Esperança: um polo educacional e assistencial completo, do berçário ao Ensino Fundamental, com atendimento médico e odontológico.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06740" y="148590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278" y="167243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2377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138160" y="28346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Gratuidade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Fé no Evangelho de Jesus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Acolhimento incondicional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Educação transformadora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Fraternidade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Diagnóstico e Posicionamento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Arquétipo, Personalidade e Tom de Voz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8700" y="1394460"/>
            <a:ext cx="777240" cy="777240"/>
          </a:xfrm>
          <a:prstGeom prst="ellipse">
            <a:avLst/>
          </a:prstGeom>
          <a:solidFill>
            <a:srgbClr val="8C6D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158099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Arquétipo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6D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Cuidador (primário) + Sábio (secundário)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marca existe para servir, proteger e nutrir quem está em situação de vulnerabilidade, com serenidade para ensinar e explicar a doutrina espírita sem hermetismo.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89420" y="1394460"/>
            <a:ext cx="777240" cy="777240"/>
          </a:xfrm>
          <a:prstGeom prst="ellipse">
            <a:avLst/>
          </a:prstGeom>
          <a:solidFill>
            <a:srgbClr val="3D9BD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58" y="15809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Tom de Voz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00800" y="27432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Acolhedor e caloroso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Simples — nunca hermético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Esperançoso e encorajador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Fraterno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Espiritualmente confiante, sem proselitismo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Diagnóstico e Posicionamento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3E5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7F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Identidade Visual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9184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Cor, tipografia e direção de arte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Brandbook · Luz da Esperança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Paleta de Cores Estratégica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Primária, secundária e neutras — extraídas do logo e do padrão já usado no site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5B8C3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#5B8C3E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35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Verde Esperança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72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Esperança, renovação, cura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8C6D4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#8C6D46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935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Dourado Terra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3172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Tradição, calor humano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AF7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#FAF7F2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935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Branco-osso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172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Fundo acolhedor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4A4A4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#4A4A4A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2935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Cinza-texto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172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Legibilidade do corpo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Identidade Visual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Paleta de Acento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Herdada das pétalas do logo — marca visualmente cada frente de atuação. Use no máx. 1–2 cores por peça.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E85D4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60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#E85D4C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Vermelho-coral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729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Reforço de Luz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69164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F2994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2660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#F2994A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79776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Laranja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31729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Cursos profissionalizantes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19472" y="169164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660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#F2C94C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Amarelo-sol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31729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Sopa Fraterna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59168" y="169164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3D9BD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660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#3D9BD1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5916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Azul-céu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59168" y="31729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Tratamentos espirituais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98864" y="169164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9B6FC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660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#9B6FC4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98864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Roxo-suave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98864" y="31729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Mocidade e evangelização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Identidade Visual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Tipografia Sugerida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Serifada · Títulos e display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434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Curvas calorosas que dialogam com o script do logotipo, sem imitá-lo. Transmite tradição e confiança.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8C6D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Aa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Nunito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Sans-serif humanista · Corpo de texto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434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Terminações arredondadas, alta legibilidade e tom amigável para um público de todas as idades.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6D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Uso pontual e lúdico (reforço escolar, evangelização infantil): fonte manuscrita — Patrick Hand ou Caveat — nunca em peças institucionais sérias.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Identidade Visual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Direção de Arte — Moodboard em 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3D9BD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21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00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Fotografia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54880" y="1600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Luz natural e quente, registros documentais reais da comunidade — nunca fotos de stock genéricas de "caridade".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731520" cy="7315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323880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Ilustração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54880" y="3017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Traço orgânico e artesanal; ícones de linha simples inspirados nas pétalas do logo, com preenchimento pontual em cor de acento.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5B8C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465612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Estética Geral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54880" y="4434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"Casa acolhedora", não instituição fria — espaço em branco generoso e hierarquia clara entre conteúdo institucional e comunitário.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Identidade Visual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3E5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7F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Comunicação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9184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Mensagem-chave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Brandbook · Luz da Esperança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Elevator Pitch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822960" cy="822960"/>
          </a:xfrm>
          <a:prstGeom prst="ellipse">
            <a:avLst/>
          </a:prstGeom>
          <a:solidFill>
            <a:srgbClr val="5B8C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6605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417320"/>
            <a:ext cx="9509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4A4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Luz da Esperança é um Centro Espírita e Obras Sociais em Parnaíba (PI) que, desde 2013, une fé e caridade para oferecer assistência material, educacional e espiritual totalmente gratuita a cerca de 100 famílias — com prioridade para crianças e adolescentes em risco social.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D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43434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Integra tratamento espiritual (passes, cirurgia espiritual, desobsessão) a ações sociais concretas — reforço escolar, cursos profissionalizantes e sopa fraterna — caminhando para a criação da Escola Esperança.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4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Palavras-chave Visuais e Verbais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54584" y="19202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F2C94C"/>
          </a:solidFill>
          <a:ln/>
        </p:spPr>
      </p:sp>
      <p:sp>
        <p:nvSpPr>
          <p:cNvPr id="4" name="Text 2"/>
          <p:cNvSpPr/>
          <p:nvPr/>
        </p:nvSpPr>
        <p:spPr>
          <a:xfrm>
            <a:off x="554584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22296" y="19202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E85D4C"/>
          </a:solidFill>
          <a:ln/>
        </p:spPr>
      </p:sp>
      <p:sp>
        <p:nvSpPr>
          <p:cNvPr id="6" name="Text 4"/>
          <p:cNvSpPr/>
          <p:nvPr/>
        </p:nvSpPr>
        <p:spPr>
          <a:xfrm>
            <a:off x="2822296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90008" y="19202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5090008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Acolhimento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57720" y="19202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3D9BD1"/>
          </a:solidFill>
          <a:ln/>
        </p:spPr>
      </p:sp>
      <p:sp>
        <p:nvSpPr>
          <p:cNvPr id="10" name="Text 8"/>
          <p:cNvSpPr/>
          <p:nvPr/>
        </p:nvSpPr>
        <p:spPr>
          <a:xfrm>
            <a:off x="735772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25432" y="19202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9B6FC4"/>
          </a:solidFill>
          <a:ln/>
        </p:spPr>
      </p:sp>
      <p:sp>
        <p:nvSpPr>
          <p:cNvPr id="12" name="Text 10"/>
          <p:cNvSpPr/>
          <p:nvPr/>
        </p:nvSpPr>
        <p:spPr>
          <a:xfrm>
            <a:off x="9625432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Transformação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48463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Documento para uso interno de design e comunicação.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CD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informações seguem o conteúdo público de luzdaesperanca.org.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B98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luzdaesperancaparnaiba@gmail.com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Brandbook</dc:creator>
  <cp:lastModifiedBy>Brandbook</cp:lastModifiedBy>
  <cp:revision>1</cp:revision>
  <dcterms:created xsi:type="dcterms:W3CDTF">2026-09-01T02:33:47Z</dcterms:created>
  <dcterms:modified xsi:type="dcterms:W3CDTF">2026-09-01T02:33:47Z</dcterms:modified>
</cp:coreProperties>
</file>